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63" r:id="rId2"/>
    <p:sldId id="257" r:id="rId3"/>
    <p:sldId id="262" r:id="rId4"/>
    <p:sldId id="259" r:id="rId5"/>
    <p:sldId id="256" r:id="rId6"/>
    <p:sldId id="258" r:id="rId7"/>
    <p:sldId id="264" r:id="rId8"/>
    <p:sldId id="268" r:id="rId9"/>
    <p:sldId id="260" r:id="rId10"/>
    <p:sldId id="269" r:id="rId11"/>
    <p:sldId id="271" r:id="rId12"/>
    <p:sldId id="261" r:id="rId13"/>
    <p:sldId id="267" r:id="rId14"/>
    <p:sldId id="270" r:id="rId15"/>
    <p:sldId id="26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7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F2966A7E-604D-446B-AA26-BDA9570694EC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1E7612D1-F9CF-4BFE-B057-1A7E789BAC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69220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66A7E-604D-446B-AA26-BDA9570694EC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612D1-F9CF-4BFE-B057-1A7E789BAC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816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66A7E-604D-446B-AA26-BDA9570694EC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612D1-F9CF-4BFE-B057-1A7E789BAC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5794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66A7E-604D-446B-AA26-BDA9570694EC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612D1-F9CF-4BFE-B057-1A7E789BAC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1137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66A7E-604D-446B-AA26-BDA9570694EC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612D1-F9CF-4BFE-B057-1A7E789BAC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381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66A7E-604D-446B-AA26-BDA9570694EC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612D1-F9CF-4BFE-B057-1A7E789BAC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551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66A7E-604D-446B-AA26-BDA9570694EC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612D1-F9CF-4BFE-B057-1A7E789BAC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443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66A7E-604D-446B-AA26-BDA9570694EC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612D1-F9CF-4BFE-B057-1A7E789BAC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7704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66A7E-604D-446B-AA26-BDA9570694EC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612D1-F9CF-4BFE-B057-1A7E789BAC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8775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66A7E-604D-446B-AA26-BDA9570694EC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612D1-F9CF-4BFE-B057-1A7E789BAC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8773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66A7E-604D-446B-AA26-BDA9570694EC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612D1-F9CF-4BFE-B057-1A7E789BAC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729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66A7E-604D-446B-AA26-BDA9570694EC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612D1-F9CF-4BFE-B057-1A7E789BAC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8920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66A7E-604D-446B-AA26-BDA9570694EC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612D1-F9CF-4BFE-B057-1A7E789BAC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1059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66A7E-604D-446B-AA26-BDA9570694EC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612D1-F9CF-4BFE-B057-1A7E789BAC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2972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66A7E-604D-446B-AA26-BDA9570694EC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612D1-F9CF-4BFE-B057-1A7E789BAC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6570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66A7E-604D-446B-AA26-BDA9570694EC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612D1-F9CF-4BFE-B057-1A7E789BAC51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3670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66A7E-604D-446B-AA26-BDA9570694EC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612D1-F9CF-4BFE-B057-1A7E789BAC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6695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2966A7E-604D-446B-AA26-BDA9570694EC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E7612D1-F9CF-4BFE-B057-1A7E789BAC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1368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Mastering the Craft: Unveiling the Power of Python Programm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84" y="459125"/>
            <a:ext cx="10431066" cy="59845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sp>
        <p:nvSpPr>
          <p:cNvPr id="5" name="TextBox 4"/>
          <p:cNvSpPr txBox="1"/>
          <p:nvPr/>
        </p:nvSpPr>
        <p:spPr>
          <a:xfrm>
            <a:off x="4869923" y="459125"/>
            <a:ext cx="22465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b="1" dirty="0" smtClean="0">
                <a:solidFill>
                  <a:schemeClr val="accent1"/>
                </a:solidFill>
              </a:rPr>
              <a:t>Python</a:t>
            </a:r>
            <a:endParaRPr lang="en-IN" sz="5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7451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14360" y="2549507"/>
            <a:ext cx="9458327" cy="2459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is a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powerful, flexible, and beginner-friendly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language.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powers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AI, web apps, automation, data science, and more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Constantly evolving with strong community and open-source support.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must-learn language for modern developers.</a:t>
            </a:r>
          </a:p>
        </p:txBody>
      </p:sp>
    </p:spTree>
    <p:extLst>
      <p:ext uri="{BB962C8B-B14F-4D97-AF65-F5344CB8AC3E}">
        <p14:creationId xmlns:p14="http://schemas.microsoft.com/office/powerpoint/2010/main" val="2384611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4236" y="833460"/>
            <a:ext cx="6085139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GB" sz="2400" b="1" dirty="0" smtClean="0"/>
              <a:t>Why Students Should Start with Python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GB" sz="2200" b="1" dirty="0" smtClean="0"/>
              <a:t>Smooth learning curve for beginners.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GB" sz="2200" b="1" dirty="0" smtClean="0"/>
              <a:t>Encourages experimentation and creativity.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GB" sz="2200" b="1" dirty="0" smtClean="0"/>
              <a:t>Strong foundation for learning other languages later.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GB" sz="2200" b="1" dirty="0" smtClean="0"/>
              <a:t>Plenty of free tools, tutorials, and projects available.</a:t>
            </a:r>
            <a:endParaRPr lang="en-GB" sz="2200" b="1" dirty="0"/>
          </a:p>
        </p:txBody>
      </p:sp>
      <p:pic>
        <p:nvPicPr>
          <p:cNvPr id="9220" name="Picture 4" descr="How can I learn the basics of Python? – Real Pyth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5112" y="1757824"/>
            <a:ext cx="5229943" cy="3414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6978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6" name="Picture 6" descr="Post thumbnai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414462"/>
            <a:ext cx="12192001" cy="8272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719137" y="2228850"/>
            <a:ext cx="5638801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000" b="1" dirty="0" smtClean="0"/>
              <a:t>💡 For Students: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2000" b="1" dirty="0" smtClean="0"/>
              <a:t>Great first programming language.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2000" b="1" dirty="0" smtClean="0"/>
              <a:t>Builds strong logic and problem-solving skills.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2000" b="1" dirty="0" smtClean="0"/>
              <a:t>Huge learning resources and tutorials available online.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26969" y="2228850"/>
            <a:ext cx="6096000" cy="517064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GB" sz="2000" b="1" dirty="0"/>
              <a:t>💼 For Professionals: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2000" b="1" dirty="0"/>
              <a:t>Highly in-demand skill in the tech job market.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2000" b="1" dirty="0"/>
              <a:t>Used by top companies (Google, Netflix, YouTube, NASA, IBM).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2000" b="1" dirty="0"/>
              <a:t>Opens </a:t>
            </a:r>
            <a:r>
              <a:rPr lang="en-GB" sz="2000" b="1" dirty="0"/>
              <a:t>doors to </a:t>
            </a:r>
            <a:r>
              <a:rPr lang="en-GB" sz="2000" b="1" dirty="0"/>
              <a:t>careers in: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b="1" dirty="0"/>
              <a:t>Data Science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b="1" dirty="0"/>
              <a:t>Machine Learning / AI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b="1" dirty="0"/>
              <a:t>Web Development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b="1" dirty="0"/>
              <a:t>Cybersecurity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2000" b="1" dirty="0"/>
              <a:t>Automation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dirty="0"/>
              <a:t>Software Testing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45493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237548"/>
              </p:ext>
            </p:extLst>
          </p:nvPr>
        </p:nvGraphicFramePr>
        <p:xfrm>
          <a:off x="785811" y="1314450"/>
          <a:ext cx="10872788" cy="5272086"/>
        </p:xfrm>
        <a:graphic>
          <a:graphicData uri="http://schemas.openxmlformats.org/drawingml/2006/table">
            <a:tbl>
              <a:tblPr/>
              <a:tblGrid>
                <a:gridCol w="2718197"/>
                <a:gridCol w="2718197"/>
                <a:gridCol w="2718197"/>
                <a:gridCol w="2718197"/>
              </a:tblGrid>
              <a:tr h="878681">
                <a:tc>
                  <a:txBody>
                    <a:bodyPr/>
                    <a:lstStyle/>
                    <a:p>
                      <a:r>
                        <a:rPr lang="en-IN" dirty="0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Python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Java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C++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78681">
                <a:tc>
                  <a:txBody>
                    <a:bodyPr/>
                    <a:lstStyle/>
                    <a:p>
                      <a:r>
                        <a:rPr lang="en-IN"/>
                        <a:t>Ease of Learning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FFFF00"/>
                          </a:solidFill>
                        </a:rPr>
                        <a:t>⭐⭐⭐⭐⭐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rgbClr val="FFFF00"/>
                          </a:solidFill>
                        </a:rPr>
                        <a:t>⭐⭐⭐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rgbClr val="FFFF00"/>
                          </a:solidFill>
                        </a:rPr>
                        <a:t>⭐⭐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78681">
                <a:tc>
                  <a:txBody>
                    <a:bodyPr/>
                    <a:lstStyle/>
                    <a:p>
                      <a:r>
                        <a:rPr lang="en-IN"/>
                        <a:t>Execution Speed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FFFF00"/>
                          </a:solidFill>
                        </a:rPr>
                        <a:t>⭐⭐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FFFF00"/>
                          </a:solidFill>
                        </a:rPr>
                        <a:t>⭐⭐⭐⭐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rgbClr val="FFFF00"/>
                          </a:solidFill>
                        </a:rPr>
                        <a:t>⭐⭐⭐⭐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78681">
                <a:tc>
                  <a:txBody>
                    <a:bodyPr/>
                    <a:lstStyle/>
                    <a:p>
                      <a:r>
                        <a:rPr lang="en-IN"/>
                        <a:t>Libraries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rgbClr val="FFFF00"/>
                          </a:solidFill>
                        </a:rPr>
                        <a:t>⭐⭐⭐⭐⭐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FFFF00"/>
                          </a:solidFill>
                        </a:rPr>
                        <a:t>⭐⭐⭐⭐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rgbClr val="FFFF00"/>
                          </a:solidFill>
                        </a:rPr>
                        <a:t>⭐⭐⭐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78681">
                <a:tc>
                  <a:txBody>
                    <a:bodyPr/>
                    <a:lstStyle/>
                    <a:p>
                      <a:r>
                        <a:rPr lang="en-IN"/>
                        <a:t>Community 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rgbClr val="FFFF00"/>
                          </a:solidFill>
                        </a:rPr>
                        <a:t>⭐⭐⭐⭐⭐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FFFF00"/>
                          </a:solidFill>
                        </a:rPr>
                        <a:t>⭐⭐⭐⭐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FFFF00"/>
                          </a:solidFill>
                        </a:rPr>
                        <a:t>⭐⭐⭐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78681">
                <a:tc>
                  <a:txBody>
                    <a:bodyPr/>
                    <a:lstStyle/>
                    <a:p>
                      <a:r>
                        <a:rPr lang="en-IN"/>
                        <a:t>Syntax Simplicity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FFFF00"/>
                          </a:solidFill>
                        </a:rPr>
                        <a:t>⭐⭐⭐⭐⭐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rgbClr val="FFFF00"/>
                          </a:solidFill>
                        </a:rPr>
                        <a:t>⭐⭐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FFFF00"/>
                          </a:solidFill>
                        </a:rPr>
                        <a:t>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85811" y="644009"/>
            <a:ext cx="40430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COMPARISON WITH OTHER LANGUAGES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5743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1975" y="655976"/>
            <a:ext cx="6281738" cy="53399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3000"/>
              </a:spcAft>
            </a:pPr>
            <a:r>
              <a:rPr lang="en-IN" sz="3200" b="1" dirty="0" smtClean="0"/>
              <a:t>Python Applications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857625" algn="l"/>
              </a:tabLst>
            </a:pPr>
            <a:r>
              <a:rPr lang="en-IN" sz="2400" b="1" dirty="0" smtClean="0"/>
              <a:t>Web Development:</a:t>
            </a:r>
            <a:r>
              <a:rPr lang="en-IN" sz="2400" dirty="0" smtClean="0"/>
              <a:t> Django, Flask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857625" algn="l"/>
              </a:tabLst>
            </a:pPr>
            <a:r>
              <a:rPr lang="en-IN" sz="2400" b="1" dirty="0" smtClean="0"/>
              <a:t>Data Analysis:</a:t>
            </a:r>
            <a:r>
              <a:rPr lang="en-IN" sz="2400" dirty="0" smtClean="0"/>
              <a:t> Pandas, </a:t>
            </a:r>
            <a:r>
              <a:rPr lang="en-IN" sz="2400" dirty="0" err="1" smtClean="0"/>
              <a:t>NumPy</a:t>
            </a:r>
            <a:endParaRPr lang="en-IN" sz="2400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857625" algn="l"/>
              </a:tabLst>
            </a:pPr>
            <a:r>
              <a:rPr lang="en-IN" sz="2400" b="1" dirty="0" smtClean="0"/>
              <a:t>Machine Learning:</a:t>
            </a:r>
            <a:r>
              <a:rPr lang="en-IN" sz="2400" dirty="0" smtClean="0"/>
              <a:t> </a:t>
            </a:r>
            <a:r>
              <a:rPr lang="en-IN" sz="2400" dirty="0" err="1" smtClean="0"/>
              <a:t>scikit</a:t>
            </a:r>
            <a:r>
              <a:rPr lang="en-IN" sz="2400" dirty="0" smtClean="0"/>
              <a:t>-learn, </a:t>
            </a:r>
            <a:r>
              <a:rPr lang="en-IN" sz="2400" dirty="0" err="1" smtClean="0"/>
              <a:t>TensorFlow</a:t>
            </a:r>
            <a:r>
              <a:rPr lang="en-IN" sz="2400" dirty="0" smtClean="0"/>
              <a:t>, </a:t>
            </a:r>
            <a:r>
              <a:rPr lang="en-IN" sz="2400" dirty="0" err="1" smtClean="0"/>
              <a:t>PyTorch</a:t>
            </a:r>
            <a:endParaRPr lang="en-IN" sz="2400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857625" algn="l"/>
              </a:tabLst>
            </a:pPr>
            <a:r>
              <a:rPr lang="en-IN" sz="2400" b="1" dirty="0" smtClean="0"/>
              <a:t>Automation:</a:t>
            </a:r>
            <a:r>
              <a:rPr lang="en-IN" sz="2400" dirty="0" smtClean="0"/>
              <a:t> Selenium, Script automation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857625" algn="l"/>
              </a:tabLst>
            </a:pPr>
            <a:r>
              <a:rPr lang="en-IN" sz="2400" b="1" dirty="0" smtClean="0"/>
              <a:t>Game Development:</a:t>
            </a:r>
            <a:r>
              <a:rPr lang="en-IN" sz="2400" dirty="0" smtClean="0"/>
              <a:t> </a:t>
            </a:r>
            <a:r>
              <a:rPr lang="en-IN" sz="2400" dirty="0" err="1" smtClean="0"/>
              <a:t>Pygame</a:t>
            </a:r>
            <a:endParaRPr lang="en-IN" sz="2400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857625" algn="l"/>
              </a:tabLst>
            </a:pPr>
            <a:r>
              <a:rPr lang="en-IN" sz="2400" b="1" dirty="0" err="1" smtClean="0"/>
              <a:t>IoT</a:t>
            </a:r>
            <a:r>
              <a:rPr lang="en-IN" sz="2400" b="1" dirty="0" smtClean="0"/>
              <a:t> and Robotics:</a:t>
            </a:r>
            <a:r>
              <a:rPr lang="en-IN" sz="2400" dirty="0" smtClean="0"/>
              <a:t> Raspberry Pi</a:t>
            </a:r>
            <a:endParaRPr lang="en-IN" sz="2400" dirty="0"/>
          </a:p>
        </p:txBody>
      </p:sp>
      <p:pic>
        <p:nvPicPr>
          <p:cNvPr id="1026" name="Picture 2" descr="Introduction to Python | Master your Skillset by Learning Pyth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7574" y="0"/>
            <a:ext cx="6351588" cy="6386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252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50" y="364914"/>
            <a:ext cx="6172200" cy="6197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064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Python for Web Development: A Full Guid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454" y="477838"/>
            <a:ext cx="6823420" cy="5951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7408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799" y="772328"/>
            <a:ext cx="11282364" cy="5309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 smtClean="0"/>
              <a:t>Python in the Job Market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 smtClean="0"/>
              <a:t>📈 Python consistently ranks in the </a:t>
            </a:r>
            <a:r>
              <a:rPr lang="en-IN" b="1" dirty="0" smtClean="0"/>
              <a:t>Top 3 most used programming languages</a:t>
            </a:r>
            <a:r>
              <a:rPr lang="en-IN" dirty="0" smtClean="0"/>
              <a:t> (TIOBE Index, Stack Overflow surveys).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 smtClean="0"/>
              <a:t>Used by major tech giants: </a:t>
            </a:r>
            <a:r>
              <a:rPr lang="en-IN" b="1" dirty="0" smtClean="0"/>
              <a:t>Google, Facebook, Microsoft, Amazon, Tesla</a:t>
            </a:r>
            <a:r>
              <a:rPr lang="en-IN" dirty="0" smtClean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 smtClean="0"/>
              <a:t>Average salaries (approx.):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 smtClean="0"/>
              <a:t>Python Developer:</a:t>
            </a:r>
            <a:r>
              <a:rPr lang="en-IN" dirty="0" smtClean="0"/>
              <a:t> $80,000–$130,000/year (USD)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 smtClean="0"/>
              <a:t>Data Scientist (Python):</a:t>
            </a:r>
            <a:r>
              <a:rPr lang="en-IN" dirty="0" smtClean="0"/>
              <a:t> $100,000+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 smtClean="0"/>
              <a:t>Common job roles: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smtClean="0"/>
              <a:t>Python Developer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smtClean="0"/>
              <a:t>Data Analyst / Data Scientist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smtClean="0"/>
              <a:t>Machine Learning Engineer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smtClean="0"/>
              <a:t>Backend Developer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smtClean="0"/>
              <a:t>Automation Engineer</a:t>
            </a:r>
            <a:endParaRPr lang="en-IN" dirty="0"/>
          </a:p>
        </p:txBody>
      </p:sp>
      <p:pic>
        <p:nvPicPr>
          <p:cNvPr id="1026" name="Picture 2" descr="Python Developer Salar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992" y="2915811"/>
            <a:ext cx="5705577" cy="358116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4741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Why Python Remains the Best Programming Language in 2024 (and Why It Will  Still Dominate in 2025) | by Samuel Getachew | Python in Plain Englis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4512" y="1503362"/>
            <a:ext cx="6238875" cy="4676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851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4" descr="13 Major Companies Using Python: Success Stories | Quixo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3000" y="1728788"/>
            <a:ext cx="762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329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9316230"/>
              </p:ext>
            </p:extLst>
          </p:nvPr>
        </p:nvGraphicFramePr>
        <p:xfrm>
          <a:off x="1014412" y="2083277"/>
          <a:ext cx="10131426" cy="3779520"/>
        </p:xfrm>
        <a:graphic>
          <a:graphicData uri="http://schemas.openxmlformats.org/drawingml/2006/table">
            <a:tbl>
              <a:tblPr/>
              <a:tblGrid>
                <a:gridCol w="3377142"/>
                <a:gridCol w="3377142"/>
                <a:gridCol w="3377142"/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3200" dirty="0"/>
                        <a:t>Industry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Python 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400"/>
                        <a:t>Web Apps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400" dirty="0"/>
                        <a:t>Instagram, Reddit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400"/>
                        <a:t>Django, Flask frameworks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400"/>
                        <a:t>AI/ML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400"/>
                        <a:t>Google, OpenAI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400"/>
                        <a:t>TensorFlow, PyTorch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400"/>
                        <a:t>Data Science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400"/>
                        <a:t>Netflix, Spotify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400" dirty="0"/>
                        <a:t>Pandas, </a:t>
                      </a:r>
                      <a:r>
                        <a:rPr lang="en-IN" sz="2400" dirty="0" err="1"/>
                        <a:t>NumPy</a:t>
                      </a:r>
                      <a:endParaRPr lang="en-IN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400"/>
                        <a:t>Automation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400"/>
                        <a:t>IT &amp; Finance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400"/>
                        <a:t>Scripting repetitive tasks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400"/>
                        <a:t>Education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400" dirty="0"/>
                        <a:t>Schools, Universities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2400" dirty="0"/>
                        <a:t>Teaching and Research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793915" y="986910"/>
            <a:ext cx="432612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 smtClean="0"/>
              <a:t>Real-World Use Cases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157645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Python for Web Development: Meaning, Fundamentals, Skills and Functionalit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3024" y="1947862"/>
            <a:ext cx="6686550" cy="3419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5440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160" y="442121"/>
            <a:ext cx="10888578" cy="6058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146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825" y="1390650"/>
            <a:ext cx="6610350" cy="40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585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382</TotalTime>
  <Words>348</Words>
  <Application>Microsoft Office PowerPoint</Application>
  <PresentationFormat>Widescreen</PresentationFormat>
  <Paragraphs>87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Wingdings</vt:lpstr>
      <vt:lpstr>Celestial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LIVEWIRE</dc:creator>
  <cp:lastModifiedBy>LIVEWIRE</cp:lastModifiedBy>
  <cp:revision>22</cp:revision>
  <dcterms:created xsi:type="dcterms:W3CDTF">2025-11-09T12:01:25Z</dcterms:created>
  <dcterms:modified xsi:type="dcterms:W3CDTF">2025-12-08T08:53:42Z</dcterms:modified>
</cp:coreProperties>
</file>